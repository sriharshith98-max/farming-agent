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5"/>
  </p:notesMasterIdLst>
  <p:sldIdLst>
    <p:sldId id="283" r:id="rId2"/>
    <p:sldId id="257" r:id="rId3"/>
    <p:sldId id="282" r:id="rId4"/>
    <p:sldId id="284" r:id="rId5"/>
    <p:sldId id="285" r:id="rId6"/>
    <p:sldId id="281" r:id="rId7"/>
    <p:sldId id="262" r:id="rId8"/>
    <p:sldId id="264" r:id="rId9"/>
    <p:sldId id="278" r:id="rId10"/>
    <p:sldId id="286" r:id="rId11"/>
    <p:sldId id="277"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riharshith98-max/farming-agent.gi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t>Smart Farming Agent</a:t>
            </a:r>
            <a:br>
              <a:rPr lang="en-US" b="1" dirty="0"/>
            </a:br>
            <a:endParaRPr lang="en-IN" dirty="0"/>
          </a:p>
        </p:txBody>
      </p:sp>
      <p:sp>
        <p:nvSpPr>
          <p:cNvPr id="3" name="Text Placeholder 2"/>
          <p:cNvSpPr>
            <a:spLocks noGrp="1"/>
          </p:cNvSpPr>
          <p:nvPr>
            <p:ph type="body" idx="1"/>
          </p:nvPr>
        </p:nvSpPr>
        <p:spPr>
          <a:xfrm>
            <a:off x="1014730" y="3903663"/>
            <a:ext cx="10515600" cy="1500187"/>
          </a:xfrm>
        </p:spPr>
        <p:txBody>
          <a:bodyPr/>
          <a:lstStyle/>
          <a:p>
            <a:pPr algn="ctr"/>
            <a:r>
              <a:rPr lang="en-US" b="1" i="1" dirty="0"/>
              <a:t>“An AI-Powered Smart Farming Assistant Built with IBM watsonx Orchestrate and Granite Models”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extLst>
              <p:ext uri="{D42A27DB-BD31-4B8C-83A1-F6EECF244321}">
                <p14:modId xmlns:p14="http://schemas.microsoft.com/office/powerpoint/2010/main" val="2137003567"/>
              </p:ext>
            </p:extLst>
          </p:nvPr>
        </p:nvGraphicFramePr>
        <p:xfrm>
          <a:off x="1102321" y="2369484"/>
          <a:ext cx="9591926" cy="3198196"/>
        </p:xfrm>
        <a:graphic>
          <a:graphicData uri="http://schemas.openxmlformats.org/drawingml/2006/table">
            <a:tbl>
              <a:tblPr>
                <a:noFill/>
                <a:tableStyleId>{0AAD8F4D-43EB-41E5-8A38-28AB6DFB1B60}</a:tableStyleId>
              </a:tblPr>
              <a:tblGrid>
                <a:gridCol w="1950362">
                  <a:extLst>
                    <a:ext uri="{9D8B030D-6E8A-4147-A177-3AD203B41FA5}">
                      <a16:colId xmlns:a16="http://schemas.microsoft.com/office/drawing/2014/main" val="20000"/>
                    </a:ext>
                  </a:extLst>
                </a:gridCol>
                <a:gridCol w="2547188">
                  <a:extLst>
                    <a:ext uri="{9D8B030D-6E8A-4147-A177-3AD203B41FA5}">
                      <a16:colId xmlns:a16="http://schemas.microsoft.com/office/drawing/2014/main" val="20001"/>
                    </a:ext>
                  </a:extLst>
                </a:gridCol>
                <a:gridCol w="2547188">
                  <a:extLst>
                    <a:ext uri="{9D8B030D-6E8A-4147-A177-3AD203B41FA5}">
                      <a16:colId xmlns:a16="http://schemas.microsoft.com/office/drawing/2014/main" val="20002"/>
                    </a:ext>
                  </a:extLst>
                </a:gridCol>
                <a:gridCol w="2547188">
                  <a:extLst>
                    <a:ext uri="{9D8B030D-6E8A-4147-A177-3AD203B41FA5}">
                      <a16:colId xmlns:a16="http://schemas.microsoft.com/office/drawing/2014/main" val="20003"/>
                    </a:ext>
                  </a:extLst>
                </a:gridCol>
              </a:tblGrid>
              <a:tr h="1436280">
                <a:tc>
                  <a:txBody>
                    <a:bodyPr/>
                    <a:lstStyle/>
                    <a:p>
                      <a:pPr marL="0" marR="0" lvl="0" indent="0" algn="ctr" rtl="0">
                        <a:spcBef>
                          <a:spcPts val="0"/>
                        </a:spcBef>
                        <a:spcAft>
                          <a:spcPts val="0"/>
                        </a:spcAft>
                        <a:buNone/>
                      </a:pPr>
                      <a:r>
                        <a:rPr lang="en-IN" sz="1800" u="none" strike="noStrike" cap="none" dirty="0"/>
                        <a:t>Student Name</a:t>
                      </a: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IN" sz="1800" u="none" strike="noStrike" cap="none" dirty="0"/>
                        <a:t>Recent Passport</a:t>
                      </a:r>
                    </a:p>
                    <a:p>
                      <a:pPr marL="0" marR="0" lvl="0" indent="0" algn="ctr" rtl="0">
                        <a:spcBef>
                          <a:spcPts val="0"/>
                        </a:spcBef>
                        <a:spcAft>
                          <a:spcPts val="0"/>
                        </a:spcAft>
                        <a:buNone/>
                      </a:pPr>
                      <a:r>
                        <a:rPr lang="en-IN" sz="1800" u="none" strike="noStrike" cap="none" dirty="0"/>
                        <a:t>Photo</a:t>
                      </a:r>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Email ID</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Mobile Number</a:t>
                      </a: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a:t>
                      </a:r>
                      <a:r>
                        <a:rPr lang="en-US" sz="1800" b="0" i="0" u="none" strike="noStrike" cap="none" dirty="0" err="1">
                          <a:solidFill>
                            <a:srgbClr val="000000"/>
                          </a:solidFill>
                          <a:latin typeface="Arial" panose="020B0604020202020204"/>
                          <a:ea typeface="Calibri" panose="020F0502020204030204"/>
                          <a:cs typeface="Arial" panose="020B0604020202020204"/>
                          <a:sym typeface="Calibri" panose="020F0502020204030204"/>
                        </a:rPr>
                        <a:t>Whatsapp</a:t>
                      </a: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a:t>
                      </a:r>
                      <a:endParaRPr sz="1800" b="0" i="0" u="none" strike="noStrike" cap="none" dirty="0">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761916">
                <a:tc>
                  <a:txBody>
                    <a:bodyPr/>
                    <a:lstStyle/>
                    <a:p>
                      <a:pPr marL="0" marR="0" lvl="0" indent="0" algn="l" rtl="0">
                        <a:spcBef>
                          <a:spcPts val="0"/>
                        </a:spcBef>
                        <a:spcAft>
                          <a:spcPts val="0"/>
                        </a:spcAft>
                        <a:buNone/>
                      </a:pPr>
                      <a:r>
                        <a:rPr lang="en-IN" sz="1600" dirty="0"/>
                        <a:t>  Sri Harshith</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 sriharshith98@gmail.com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+91 8297923676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Agriculture / Smart Farming</a:t>
            </a:r>
            <a:endParaRPr lang="en-IN" sz="2400" b="1" dirty="0">
              <a:highlight>
                <a:srgbClr val="FFFF00"/>
              </a:highlight>
            </a:endParaRPr>
          </a:p>
        </p:txBody>
      </p:sp>
      <p:sp>
        <p:nvSpPr>
          <p:cNvPr id="7" name="TextBox 6"/>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panose="02020603050405020304"/>
                <a:ea typeface="Times New Roman" panose="02020603050405020304"/>
                <a:cs typeface="Times New Roman" panose="02020603050405020304"/>
                <a:sym typeface="Times New Roman" panose="02020603050405020304"/>
              </a:rPr>
              <a:t>Smart Farming Agent</a:t>
            </a:r>
            <a:r>
              <a:rPr lang="en-US" sz="2400" b="1" dirty="0">
                <a:highlight>
                  <a:srgbClr val="FFFF00"/>
                </a:highlight>
              </a:rPr>
              <a:t>]</a:t>
            </a:r>
            <a:endParaRPr lang="en-IN" sz="2400" b="1" dirty="0">
              <a:highlight>
                <a:srgbClr val="FFFF00"/>
              </a:highlight>
            </a:endParaRPr>
          </a:p>
        </p:txBody>
      </p:sp>
      <p:pic>
        <p:nvPicPr>
          <p:cNvPr id="5" name="Picture 4">
            <a:extLst>
              <a:ext uri="{FF2B5EF4-FFF2-40B4-BE49-F238E27FC236}">
                <a16:creationId xmlns:a16="http://schemas.microsoft.com/office/drawing/2014/main" id="{3AD27925-9787-5AF7-C9D9-AAB88653356E}"/>
              </a:ext>
            </a:extLst>
          </p:cNvPr>
          <p:cNvPicPr>
            <a:picLocks noChangeAspect="1"/>
          </p:cNvPicPr>
          <p:nvPr/>
        </p:nvPicPr>
        <p:blipFill>
          <a:blip r:embed="rId3"/>
          <a:stretch>
            <a:fillRect/>
          </a:stretch>
        </p:blipFill>
        <p:spPr>
          <a:xfrm>
            <a:off x="3716594" y="3968582"/>
            <a:ext cx="1191670" cy="15888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Smart Farming Agent</a:t>
            </a:r>
            <a:r>
              <a:rPr lang="en-US" dirty="0"/>
              <a:t> </a:t>
            </a:r>
          </a:p>
          <a:p>
            <a:pPr fontAlgn="base"/>
            <a:endParaRPr lang="en-US" b="1" dirty="0"/>
          </a:p>
          <a:p>
            <a:pPr fontAlgn="base"/>
            <a:r>
              <a:rPr lang="en-US" b="1" dirty="0"/>
              <a:t>The Challenge</a:t>
            </a:r>
            <a:r>
              <a:rPr lang="en-US" dirty="0"/>
              <a:t> </a:t>
            </a:r>
          </a:p>
          <a:p>
            <a:pPr fontAlgn="base"/>
            <a:r>
              <a:rPr lang="en-US" dirty="0"/>
              <a:t>Agriculture faces growing challenges with unpredictable weather, soil degradation, and lack of expert access. Farmers struggle with </a:t>
            </a:r>
            <a:r>
              <a:rPr lang="en-US" b="1" dirty="0"/>
              <a:t>crop selection, fertilizer decisions, and pest management</a:t>
            </a:r>
            <a:r>
              <a:rPr lang="en-US" dirty="0"/>
              <a:t> due to scattered, unreliable information. Without </a:t>
            </a:r>
            <a:r>
              <a:rPr lang="en-US" b="1" dirty="0"/>
              <a:t>personalized, real-time guidance</a:t>
            </a:r>
            <a:r>
              <a:rPr lang="en-US" dirty="0"/>
              <a:t>, crop yields decline and resources are wasted. </a:t>
            </a:r>
          </a:p>
          <a:p>
            <a:pPr fontAlgn="base"/>
            <a:endParaRPr lang="en-US" dirty="0"/>
          </a:p>
          <a:p>
            <a:pPr fontAlgn="base"/>
            <a:r>
              <a:rPr lang="en-US" b="1" dirty="0"/>
              <a:t>The Objective</a:t>
            </a:r>
            <a:r>
              <a:rPr lang="en-US" dirty="0"/>
              <a:t> </a:t>
            </a:r>
          </a:p>
          <a:p>
            <a:pPr fontAlgn="base"/>
            <a:r>
              <a:rPr lang="en-US" dirty="0"/>
              <a:t>Build an </a:t>
            </a:r>
            <a:r>
              <a:rPr lang="en-US" b="1" dirty="0"/>
              <a:t>AI-powered Smart Farming Agent</a:t>
            </a:r>
            <a:r>
              <a:rPr lang="en-US" dirty="0"/>
              <a:t> that delivers </a:t>
            </a:r>
            <a:r>
              <a:rPr lang="en-US" b="1" dirty="0"/>
              <a:t>personalized agricultural insights and guidance</a:t>
            </a:r>
            <a:r>
              <a:rPr lang="en-US" dirty="0"/>
              <a:t> for farmers, agronomists, and agri-businesses. The solution should: </a:t>
            </a:r>
          </a:p>
          <a:p>
            <a:pPr marL="285750" indent="-285750" fontAlgn="base">
              <a:buFont typeface="Arial" panose="020B0604020202020204" pitchFamily="34" charset="0"/>
              <a:buChar char="•"/>
            </a:pPr>
            <a:r>
              <a:rPr lang="en-US" b="1" dirty="0"/>
              <a:t>Crop Recommendations</a:t>
            </a:r>
            <a:r>
              <a:rPr lang="en-US" dirty="0"/>
              <a:t> – Suggest optimal crops based on soil type, season, region, and market demand. </a:t>
            </a:r>
          </a:p>
          <a:p>
            <a:pPr marL="285750" indent="-285750" fontAlgn="base">
              <a:buFont typeface="Arial" panose="020B0604020202020204" pitchFamily="34" charset="0"/>
              <a:buChar char="•"/>
            </a:pPr>
            <a:r>
              <a:rPr lang="en-US" b="1" dirty="0"/>
              <a:t>Soil &amp; Weather RAG Retrieval</a:t>
            </a:r>
            <a:r>
              <a:rPr lang="en-US" dirty="0"/>
              <a:t> – Fetch and summarize soil health data and weather forecast details from reliable agricultural sources. </a:t>
            </a:r>
          </a:p>
          <a:p>
            <a:pPr marL="285750" indent="-285750" fontAlgn="base">
              <a:buFont typeface="Arial" panose="020B0604020202020204" pitchFamily="34" charset="0"/>
              <a:buChar char="•"/>
            </a:pPr>
            <a:r>
              <a:rPr lang="en-US" b="1" dirty="0"/>
              <a:t>Pest &amp; Disease Detection</a:t>
            </a:r>
            <a:r>
              <a:rPr lang="en-US" dirty="0"/>
              <a:t> – Allow farmers to describe or upload crop images for instant diagnosis and treatment advice. </a:t>
            </a:r>
          </a:p>
          <a:p>
            <a:pPr marL="285750" indent="-285750" fontAlgn="base">
              <a:buFont typeface="Arial" panose="020B0604020202020204" pitchFamily="34" charset="0"/>
              <a:buChar char="•"/>
            </a:pPr>
            <a:r>
              <a:rPr lang="en-US" b="1" dirty="0"/>
              <a:t>Irrigation &amp; Fertilizer Guidance</a:t>
            </a:r>
            <a:r>
              <a:rPr lang="en-US" dirty="0"/>
              <a:t> – Provide precise recommendations for water usage and nutrient management. </a:t>
            </a:r>
          </a:p>
          <a:p>
            <a:pPr marL="285750" indent="-285750" fontAlgn="base">
              <a:buFont typeface="Arial" panose="020B0604020202020204" pitchFamily="34" charset="0"/>
              <a:buChar char="•"/>
            </a:pPr>
            <a:r>
              <a:rPr lang="en-US" b="1" dirty="0"/>
              <a:t>Multi-Agent Architecture</a:t>
            </a:r>
            <a:r>
              <a:rPr lang="en-US" dirty="0"/>
              <a:t> – </a:t>
            </a:r>
          </a:p>
          <a:p>
            <a:pPr marL="285750" indent="-285750" fontAlgn="base">
              <a:buFont typeface="Arial" panose="020B0604020202020204" pitchFamily="34" charset="0"/>
              <a:buChar char="•"/>
            </a:pPr>
            <a:r>
              <a:rPr lang="en-US" b="1" dirty="0"/>
              <a:t>Crop Knowledge Agent</a:t>
            </a:r>
            <a:r>
              <a:rPr lang="en-US" dirty="0"/>
              <a:t> (fetches crop and soil data) </a:t>
            </a:r>
          </a:p>
          <a:p>
            <a:pPr marL="285750" indent="-285750" fontAlgn="base">
              <a:buFont typeface="Arial" panose="020B0604020202020204" pitchFamily="34" charset="0"/>
              <a:buChar char="•"/>
            </a:pPr>
            <a:r>
              <a:rPr lang="en-US" b="1" dirty="0"/>
              <a:t>Farming Recommendation Agent</a:t>
            </a:r>
            <a:r>
              <a:rPr lang="en-US" dirty="0"/>
              <a:t> (crop and soil recommendations) </a:t>
            </a:r>
          </a:p>
          <a:p>
            <a:pPr marL="285750" indent="-285750" fontAlgn="base">
              <a:buFont typeface="Arial" panose="020B0604020202020204" pitchFamily="34" charset="0"/>
              <a:buChar char="•"/>
            </a:pPr>
            <a:r>
              <a:rPr lang="en-US" b="1" dirty="0"/>
              <a:t>Weather Advisory Agent</a:t>
            </a:r>
            <a:r>
              <a:rPr lang="en-US" dirty="0"/>
              <a:t> (weather-based farming guidance) </a:t>
            </a:r>
          </a:p>
          <a:p>
            <a:pPr marL="285750" indent="-285750" fontAlgn="base">
              <a:buFont typeface="Arial" panose="020B0604020202020204" pitchFamily="34" charset="0"/>
              <a:buChar char="•"/>
            </a:pPr>
            <a:r>
              <a:rPr lang="en-US" b="1" dirty="0"/>
              <a:t>Field Feedback Agent</a:t>
            </a:r>
            <a:r>
              <a:rPr lang="en-US" dirty="0"/>
              <a:t> (crop condition tracking + analysis) </a:t>
            </a:r>
          </a:p>
          <a:p>
            <a:pPr marL="285750" indent="-285750" fontAlgn="base">
              <a:buFont typeface="Arial" panose="020B0604020202020204" pitchFamily="34" charset="0"/>
              <a:buChar char="•"/>
            </a:pPr>
            <a:r>
              <a:rPr lang="en-US" b="1" dirty="0"/>
              <a:t>Insights Dashboard</a:t>
            </a:r>
            <a:r>
              <a:rPr lang="en-US" dirty="0"/>
              <a:t> – Show crop health, soil metrics, weather trends, and actionable farming insights. </a:t>
            </a:r>
          </a:p>
          <a:p>
            <a:pPr fontAlgn="base"/>
            <a:endParaRPr 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667512" y="1165753"/>
            <a:ext cx="10607040" cy="3323987"/>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a:t>IBM </a:t>
            </a:r>
            <a:r>
              <a:rPr lang="en-IN" dirty="0" err="1"/>
              <a:t>watsonx</a:t>
            </a:r>
            <a:r>
              <a:rPr lang="en-IN" dirty="0"/>
              <a:t> Orchestrate + IBM Granite Models</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a:highlight>
                  <a:srgbClr val="FFFF00"/>
                </a:highlight>
              </a:rPr>
              <a:t>IBM </a:t>
            </a:r>
            <a:r>
              <a:rPr lang="en-IN" dirty="0" err="1">
                <a:highlight>
                  <a:srgbClr val="FFFF00"/>
                </a:highlight>
              </a:rPr>
              <a:t>watsonx</a:t>
            </a:r>
            <a:r>
              <a:rPr lang="en-IN" dirty="0">
                <a:highlight>
                  <a:srgbClr val="FFFF00"/>
                </a:highlight>
              </a:rPr>
              <a:t> Orchestrate </a:t>
            </a:r>
            <a:r>
              <a:rPr lang="en-IN" dirty="0"/>
              <a:t>in it we can’t change default models so I used GPT-OSS-120B---OpenAI</a:t>
            </a:r>
          </a:p>
          <a:p>
            <a:pPr fontAlgn="base"/>
            <a:endParaRPr lang="en-IN" dirty="0">
              <a:highlight>
                <a:srgbClr val="FFFF00"/>
              </a:highlight>
            </a:endParaRPr>
          </a:p>
          <a:p>
            <a:pPr fontAlgn="base"/>
            <a:endParaRPr lang="en-IN" dirty="0">
              <a:highlight>
                <a:srgbClr val="FFFF00"/>
              </a:highlight>
            </a:endParaRP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Smart Farming Agent</a:t>
            </a:r>
          </a:p>
          <a:p>
            <a:r>
              <a:rPr lang="en-US" dirty="0"/>
              <a:t>The proposed solution is a </a:t>
            </a:r>
            <a:r>
              <a:rPr lang="en-US" b="1" dirty="0"/>
              <a:t>multi-agent AI-powered Smart Farming Agent</a:t>
            </a:r>
            <a:r>
              <a:rPr lang="en-US" dirty="0"/>
              <a:t> built using </a:t>
            </a:r>
            <a:r>
              <a:rPr lang="en-US" b="1" dirty="0"/>
              <a:t>IBM </a:t>
            </a:r>
            <a:r>
              <a:rPr lang="en-US" b="1" dirty="0" err="1"/>
              <a:t>watsonx</a:t>
            </a:r>
            <a:r>
              <a:rPr lang="en-US" b="1" dirty="0"/>
              <a:t> Orchestrate and </a:t>
            </a:r>
          </a:p>
          <a:p>
            <a:r>
              <a:rPr lang="en-US" b="1" dirty="0"/>
              <a:t>IBM watsonx.ai</a:t>
            </a:r>
            <a:r>
              <a:rPr lang="en-US" dirty="0"/>
              <a:t> to provide personalized, real-time agricultural guidance. The system addresses challenges in crop selection, soil management, and weather-based decision making through an intelligent, modular architecture.</a:t>
            </a:r>
          </a:p>
          <a:p>
            <a:r>
              <a:rPr lang="en-US" dirty="0"/>
              <a:t>At its core, the solution uses a </a:t>
            </a:r>
            <a:r>
              <a:rPr lang="en-US" b="1" dirty="0"/>
              <a:t>Retrieval-Augmented Generation (RAG)</a:t>
            </a:r>
            <a:r>
              <a:rPr lang="en-US" dirty="0"/>
              <a:t> pipeline to fetch accurate agricultural data from trusted sources such as FAO and ICAR datasets. This data is embedded and stored in a IBM Watson Discovery knowledge base, enabling the system to retrieve and summarize crop, soil, and weather information using </a:t>
            </a:r>
            <a:r>
              <a:rPr lang="en-IN"/>
              <a:t>GPT-OSS-120B---OpenAI</a:t>
            </a:r>
            <a:r>
              <a:rPr lang="en-US"/>
              <a:t>.</a:t>
            </a:r>
            <a:endParaRPr lang="en-US" dirty="0"/>
          </a:p>
          <a:p>
            <a:r>
              <a:rPr lang="en-US" dirty="0"/>
              <a:t>The system consists of four key agents working in concert:</a:t>
            </a:r>
          </a:p>
          <a:p>
            <a:r>
              <a:rPr lang="en-US" b="1" dirty="0"/>
              <a:t>Crop Knowledge Agent</a:t>
            </a:r>
            <a:r>
              <a:rPr lang="en-US" dirty="0"/>
              <a:t> retrieves and summarizes crop-specific information and best practices using RAG. </a:t>
            </a:r>
          </a:p>
          <a:p>
            <a:r>
              <a:rPr lang="en-US" b="1" dirty="0"/>
              <a:t>Farming Recommendation Agent</a:t>
            </a:r>
            <a:r>
              <a:rPr lang="en-US" dirty="0"/>
              <a:t> generates personalized crop and soil plans based on user inputs such as location, soil type, season, and budget. </a:t>
            </a:r>
          </a:p>
          <a:p>
            <a:r>
              <a:rPr lang="en-US" b="1" dirty="0"/>
              <a:t>Weather Advisory Agent</a:t>
            </a:r>
            <a:r>
              <a:rPr lang="en-US" dirty="0"/>
              <a:t> provides real-time weather-based farming guidance including irrigation schedules, harvesting timing, and sowing recommendations. </a:t>
            </a:r>
          </a:p>
          <a:p>
            <a:r>
              <a:rPr lang="en-US" b="1" dirty="0"/>
              <a:t>Field Feedback Agent</a:t>
            </a:r>
            <a:r>
              <a:rPr lang="en-US" dirty="0"/>
              <a:t> allows users to describe crop conditions via text or images and delivers instant diagnosis with actionable recommendations. </a:t>
            </a:r>
          </a:p>
          <a:p>
            <a:r>
              <a:rPr lang="en-US" dirty="0"/>
              <a:t>The solution includes a </a:t>
            </a:r>
            <a:r>
              <a:rPr lang="en-US" b="1" dirty="0"/>
              <a:t>user-friendly dashboard</a:t>
            </a:r>
            <a:r>
              <a:rPr lang="en-US" dirty="0"/>
              <a:t> (built with </a:t>
            </a:r>
            <a:r>
              <a:rPr lang="en-US" dirty="0" err="1"/>
              <a:t>Streamlit</a:t>
            </a:r>
            <a:r>
              <a:rPr lang="en-US" dirty="0"/>
              <a:t> or React) that visualizes crop health status, soil metrics, and weather-based guidance in natural language.</a:t>
            </a:r>
          </a:p>
          <a:p>
            <a:r>
              <a:rPr lang="en-US" dirty="0" err="1"/>
              <a:t>IBM watsonx Orchestrate</a:t>
            </a:r>
            <a:r>
              <a:rPr lang="en-US" dirty="0"/>
              <a:t> is used to orchestrate agent workflows, while watsonx Orchestrate ensures scalable agent deployment, embeddings, and AI governance. Granite models power reasoning, summarization, and personalization.</a:t>
            </a:r>
          </a:p>
          <a:p>
            <a:r>
              <a:rPr lang="en-US" dirty="0"/>
              <a:t>Overall, this solution delivers an </a:t>
            </a:r>
            <a:r>
              <a:rPr lang="en-US" b="1" dirty="0"/>
              <a:t>end-to-end intelligent farming assistant</a:t>
            </a:r>
            <a:r>
              <a:rPr lang="en-US" dirty="0"/>
              <a:t> that empowers farmers with data-driven insights, real-time feedback, and actionable recommendations for improved agricultural productivity.</a:t>
            </a:r>
          </a:p>
          <a:p>
            <a:pPr fontAlgn="base"/>
            <a:endParaRPr 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dirty="0" err="1">
                <a:sym typeface="Times New Roman" panose="02020603050405020304"/>
              </a:rPr>
              <a:t>IBM watsonx Orchestrate</a:t>
            </a:r>
            <a:r>
              <a:rPr lang="en-US" sz="3500" b="1" i="0" u="none" strike="noStrike" cap="none" dirty="0">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dirty="0">
                <a:sym typeface="Times New Roman" panose="02020603050405020304"/>
              </a:rPr>
              <a:t>component Used -</a:t>
            </a:r>
            <a:endParaRPr sz="2400" b="1" dirty="0">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537590" y="1503680"/>
            <a:ext cx="8596250" cy="4401205"/>
          </a:xfrm>
          <a:prstGeom prst="rect">
            <a:avLst/>
          </a:prstGeom>
          <a:noFill/>
        </p:spPr>
        <p:txBody>
          <a:bodyPr wrap="square" rtlCol="0">
            <a:spAutoFit/>
          </a:bodyPr>
          <a:lstStyle/>
          <a:p>
            <a:endParaRPr lang="en-US" dirty="0"/>
          </a:p>
          <a:p>
            <a:r>
              <a:rPr lang="en-US" b="1" dirty="0"/>
              <a:t>1) Agent Chat Interface </a:t>
            </a:r>
            <a:r>
              <a:rPr lang="en-US" dirty="0"/>
              <a:t>– Interface where users enter their queries, preferences, or field queries about crops, soil conditions, or weather (text/image).</a:t>
            </a:r>
          </a:p>
          <a:p>
            <a:endParaRPr lang="en-US" dirty="0"/>
          </a:p>
          <a:p>
            <a:r>
              <a:rPr lang="en-US" b="1" dirty="0"/>
              <a:t>2) IBM </a:t>
            </a:r>
            <a:r>
              <a:rPr lang="en-US" b="1" dirty="0" err="1"/>
              <a:t>watsonx</a:t>
            </a:r>
            <a:r>
              <a:rPr lang="en-US" b="1" dirty="0"/>
              <a:t> AI Agent </a:t>
            </a:r>
            <a:r>
              <a:rPr lang="en-US" dirty="0"/>
              <a:t>- Processes user input using Granite models to generate personalized farming insights and crop recommendations. </a:t>
            </a:r>
          </a:p>
          <a:p>
            <a:endParaRPr lang="en-US" dirty="0"/>
          </a:p>
          <a:p>
            <a:r>
              <a:rPr lang="en-US" b="1" dirty="0"/>
              <a:t>3) Name of IBM Granite model - </a:t>
            </a:r>
            <a:r>
              <a:rPr lang="en-US" dirty="0"/>
              <a:t>GPT-OSS 120B — OpenAI Compatible → Fast, efficient for real-time agricultural guidance</a:t>
            </a:r>
          </a:p>
          <a:p>
            <a:endParaRPr lang="en-US" dirty="0"/>
          </a:p>
          <a:p>
            <a:r>
              <a:rPr lang="en-US" b="1" dirty="0"/>
              <a:t>4) Chat output -</a:t>
            </a:r>
            <a:r>
              <a:rPr lang="en-US" dirty="0"/>
              <a:t>Displays AI-generated responses such as crop plans, soil analysis, and weather-based farming suggestions. </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panose="020F0502020204030204"/>
                <a:ea typeface="Calibri" panose="020F0502020204030204"/>
                <a:cs typeface="Calibri" panose="020F0502020204030204"/>
                <a:sym typeface="Calibri" panose="020F0502020204030204"/>
              </a:rPr>
              <a:t>Architecture Blueprint – Smart Farming Agent</a:t>
            </a:r>
            <a:endParaRPr lang="en-US" sz="2400" dirty="0"/>
          </a:p>
        </p:txBody>
      </p:sp>
      <p:sp>
        <p:nvSpPr>
          <p:cNvPr id="3" name="AutoShape 2">
            <a:extLst>
              <a:ext uri="{FF2B5EF4-FFF2-40B4-BE49-F238E27FC236}">
                <a16:creationId xmlns:a16="http://schemas.microsoft.com/office/drawing/2014/main" id="{6E32A8A8-8899-9078-FC0F-F0E69239E7A4}"/>
              </a:ext>
            </a:extLst>
          </p:cNvPr>
          <p:cNvSpPr>
            <a:spLocks noChangeAspect="1" noChangeArrowheads="1"/>
          </p:cNvSpPr>
          <p:nvPr/>
        </p:nvSpPr>
        <p:spPr bwMode="auto">
          <a:xfrm>
            <a:off x="5943600" y="3276600"/>
            <a:ext cx="1305232" cy="13052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12933B53-E9ED-915D-2961-1B1E14EAA004}"/>
              </a:ext>
            </a:extLst>
          </p:cNvPr>
          <p:cNvPicPr>
            <a:picLocks noChangeAspect="1"/>
          </p:cNvPicPr>
          <p:nvPr/>
        </p:nvPicPr>
        <p:blipFill>
          <a:blip r:embed="rId3"/>
          <a:stretch>
            <a:fillRect/>
          </a:stretch>
        </p:blipFill>
        <p:spPr>
          <a:xfrm>
            <a:off x="704973" y="1228725"/>
            <a:ext cx="10782054" cy="50540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p:cNvSpPr txBox="1"/>
          <p:nvPr/>
        </p:nvSpPr>
        <p:spPr>
          <a:xfrm>
            <a:off x="621792" y="1167493"/>
            <a:ext cx="7406640" cy="3108543"/>
          </a:xfrm>
          <a:prstGeom prst="rect">
            <a:avLst/>
          </a:prstGeom>
          <a:noFill/>
        </p:spPr>
        <p:txBody>
          <a:bodyPr wrap="square" rtlCol="0">
            <a:spAutoFit/>
          </a:bodyPr>
          <a:lstStyle/>
          <a:p>
            <a:r>
              <a:rPr lang="en-US" b="1" dirty="0"/>
              <a:t>Role of Agentic AI in Smart Farming Agent</a:t>
            </a:r>
          </a:p>
          <a:p>
            <a:r>
              <a:rPr lang="en-US" b="1" dirty="0"/>
              <a:t>Agentic AI</a:t>
            </a:r>
            <a:r>
              <a:rPr lang="en-US" dirty="0"/>
              <a:t> enables the Smart Farming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agricultural guidance.</a:t>
            </a:r>
          </a:p>
          <a:p>
            <a:r>
              <a:rPr lang="en-US" dirty="0"/>
              <a:t>Each agent performs a specific role—such as retrieving crop data, generating farming plans, providing weather advice, and analyzing field conditions—while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farmer details like location, soil type, and crop history to generate tailored recommendations. It supports </a:t>
            </a:r>
            <a:r>
              <a:rPr lang="en-US" b="1" dirty="0"/>
              <a:t>real-time adaptation</a:t>
            </a:r>
            <a:r>
              <a:rPr lang="en-US" dirty="0"/>
              <a:t>, continuously updating suggestions based on user inputs like field conditions.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agronomist</a:t>
            </a:r>
            <a:r>
              <a:rPr lang="en-US" dirty="0"/>
              <a:t> that helps farmers optimize yields and make data-driven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IBM watsonx Orchestrate</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GPT-OSS 120B (IBM Granite Compatible) – For natural language understanding, crop reasoning, and farming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Smart Farming Agent efficiently. IBM Cloud enables a </a:t>
            </a:r>
            <a:r>
              <a:rPr lang="en-US" sz="1800" b="1" dirty="0"/>
              <a:t>reliable, secure, and scalable environment</a:t>
            </a:r>
            <a:r>
              <a:rPr lang="en-US" sz="1800" dirty="0"/>
              <a:t> for deploying the Smart Farming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Smart Farming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(IBM Watson Discovery) – For RAG-based agricultural knowledge retrieval and semantic search</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p:cNvSpPr txBox="1"/>
          <p:nvPr/>
        </p:nvSpPr>
        <p:spPr>
          <a:xfrm>
            <a:off x="777240" y="1207008"/>
            <a:ext cx="11301984" cy="5293757"/>
          </a:xfrm>
          <a:prstGeom prst="rect">
            <a:avLst/>
          </a:prstGeom>
          <a:noFill/>
        </p:spPr>
        <p:txBody>
          <a:bodyPr wrap="square" rtlCol="0">
            <a:spAutoFit/>
          </a:bodyPr>
          <a:lstStyle/>
          <a:p>
            <a:r>
              <a:rPr lang="en-IN" sz="1800" dirty="0"/>
              <a:t>The proposed Smart Farming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crop, soil, and weather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crop recommendations based on soil type, regional climate, season, and farmer resources. </a:t>
            </a:r>
          </a:p>
          <a:p>
            <a:r>
              <a:rPr lang="en-IN" sz="1800" b="1" dirty="0"/>
              <a:t>Real-Time Feedback Loop</a:t>
            </a:r>
            <a:r>
              <a:rPr lang="en-IN" sz="1800" dirty="0"/>
              <a:t> – Continuously adapts recommendations based on daily field conditions and user </a:t>
            </a:r>
            <a:r>
              <a:rPr lang="en-IN" sz="1800" dirty="0" err="1"/>
              <a:t>behavior</a:t>
            </a:r>
            <a:r>
              <a:rPr lang="en-IN" sz="1800" dirty="0"/>
              <a:t>. </a:t>
            </a:r>
          </a:p>
          <a:p>
            <a:r>
              <a:rPr lang="en-IN" sz="1800" b="1" dirty="0"/>
              <a:t>Multi-Modal Input</a:t>
            </a:r>
            <a:r>
              <a:rPr lang="en-IN" sz="1800" dirty="0"/>
              <a:t> – Supports text and image-based crop condition input for better usability in field environments. </a:t>
            </a:r>
          </a:p>
          <a:p>
            <a:r>
              <a:rPr lang="en-IN" sz="1800" b="1" dirty="0"/>
              <a:t>Preventive Healthcare Focus</a:t>
            </a:r>
            <a:r>
              <a:rPr lang="en-IN" sz="1800" dirty="0"/>
              <a:t> – Goes beyond crop recommendations to provide pest management, disease detection, and yield optimization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agronomist</a:t>
            </a:r>
            <a:r>
              <a:rPr lang="en-IN" sz="1800" dirty="0"/>
              <a:t>, not just a static crop recommendation tool.</a:t>
            </a:r>
            <a:endParaRPr lang="en-US" dirty="0"/>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Git Hub Link</a:t>
            </a:r>
            <a:endParaRPr sz="2400" b="1" dirty="0">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lvl="0">
              <a:lnSpc>
                <a:spcPct val="162000"/>
              </a:lnSpc>
              <a:buClr>
                <a:srgbClr val="2B3541"/>
              </a:buClr>
              <a:buSzPts val="1850"/>
            </a:pP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GitHub Repository URL : </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hlinkClick r:id="rId3"/>
              </a:rPr>
              <a:t>https://github.com/sriharshith98-max/farming-agent.git</a:t>
            </a:r>
            <a:r>
              <a:rPr lang="en-US" sz="185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b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br>
            <a:endPar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Future Scope </a:t>
            </a:r>
            <a:endParaRPr sz="2400" b="1" dirty="0">
              <a:sym typeface="Times New Roman" panose="02020603050405020304"/>
            </a:endParaRPr>
          </a:p>
        </p:txBody>
      </p:sp>
      <p:sp>
        <p:nvSpPr>
          <p:cNvPr id="279" name="Google Shape;279;p18"/>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1"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1. Integration with IoT Sensors &amp; Smart Devices – </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The system can be integrated with IoT soil sensors, weather stations, and drone imagery to collect real-time field data such as soil moisture, temperature, and crop health. This will enable the Smart Farming Agent to provide more precise and dynamic farming recommendations.</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1"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2.</a:t>
            </a:r>
            <a:r>
              <a:rPr lang="en-US" sz="1850" b="1"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AI-Powered Voice Assistant &amp; Regional Language Support </a:t>
            </a: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Enhancing the system with a voice-enabled assistant and support for regional Indian languages (Hindi, Telugu, Tamil, etc.) will improve accessibility for rural farmers. This makes the solution inclusive and practical for diverse farming communities across the country.</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1385</Words>
  <Application>Microsoft Office PowerPoint</Application>
  <PresentationFormat>Widescreen</PresentationFormat>
  <Paragraphs>124</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Smart Farming Agent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sriharshith98@gmail.com</cp:lastModifiedBy>
  <cp:revision>27</cp:revision>
  <dcterms:created xsi:type="dcterms:W3CDTF">2025-07-08T05:06:00Z</dcterms:created>
  <dcterms:modified xsi:type="dcterms:W3CDTF">2026-06-05T15:48:51Z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A33F8CA29B0E43A48EBF8A46637E3087_12</vt:lpwstr>
  </property>
  <property fmtid="{D5CDD505-2E9C-101B-9397-08002B2CF9AE}" pid="3" name="KSOProductBuildVer">
    <vt:lpwstr>1033-12.1.0.26372</vt:lpwstr>
  </property>
</Properties>
</file>